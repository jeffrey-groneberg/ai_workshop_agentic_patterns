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Multi-Agent Orchestration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32918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patterns for coordinating multiple agents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0" y="0"/>
            <a:ext cx="73152" cy="8229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Orchestration Patterns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simple. Add complexity only when needed.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1280160" cy="594360"/>
          </a:xfrm>
          <a:prstGeom prst="rect">
            <a:avLst/>
          </a:prstGeom>
          <a:solidFill>
            <a:srgbClr val="64748B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46304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Call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737360" y="1554480"/>
            <a:ext cx="182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920240" y="1463040"/>
            <a:ext cx="1280160" cy="594360"/>
          </a:xfrm>
          <a:prstGeom prst="rect">
            <a:avLst/>
          </a:prstGeom>
          <a:solidFill>
            <a:srgbClr val="0891B2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920240" y="146304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00400" y="1554480"/>
            <a:ext cx="182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383280" y="1463040"/>
            <a:ext cx="1828800" cy="594360"/>
          </a:xfrm>
          <a:prstGeom prst="rect">
            <a:avLst/>
          </a:prstGeom>
          <a:solidFill>
            <a:srgbClr val="3B82F6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383280" y="14630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377440"/>
            <a:ext cx="16002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377440"/>
            <a:ext cx="54864" cy="10058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242316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Sequential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" y="274320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→ B → C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011680" y="2377440"/>
            <a:ext cx="16002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011680" y="2377440"/>
            <a:ext cx="54864" cy="10058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0" name="Text 18"/>
          <p:cNvSpPr/>
          <p:nvPr/>
        </p:nvSpPr>
        <p:spPr>
          <a:xfrm>
            <a:off x="2103120" y="242316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Concurrent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103120" y="274320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A,B,C parallel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Aggregator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749040" y="2377440"/>
            <a:ext cx="16002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749040" y="2377440"/>
            <a:ext cx="54864" cy="10058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4" name="Text 22"/>
          <p:cNvSpPr/>
          <p:nvPr/>
        </p:nvSpPr>
        <p:spPr>
          <a:xfrm>
            <a:off x="3840480" y="242316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Group Chat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840480" y="274320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thread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Debate &amp; reflect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486400" y="2377440"/>
            <a:ext cx="16002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486400" y="2377440"/>
            <a:ext cx="54864" cy="10058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5577840" y="242316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Handoff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577840" y="274320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→ Route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specialist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223760" y="2377440"/>
            <a:ext cx="16002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223760" y="2377440"/>
            <a:ext cx="54864" cy="1005840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32" name="Text 30"/>
          <p:cNvSpPr/>
          <p:nvPr/>
        </p:nvSpPr>
        <p:spPr>
          <a:xfrm>
            <a:off x="7315200" y="242316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11D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Magentic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315200" y="274320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+ Ledger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Workers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7200" y="3657600"/>
            <a:ext cx="82296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57200" y="3657600"/>
            <a:ext cx="54864" cy="6858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" y="365760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biggest practical challenge: how conversation context flows between agents. Each pattern handles this differently — fresh context, shared thread, structured objects, or task-specific context.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0" y="0"/>
            <a:ext cx="73152" cy="8229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Sequential: Content Pipeline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work in a chain — each agent's output becomes the next agent's input.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1463040" cy="822960"/>
          </a:xfrm>
          <a:prstGeom prst="rect">
            <a:avLst/>
          </a:prstGeom>
          <a:solidFill>
            <a:srgbClr val="64748B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50876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920240" y="164592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194560" y="1508760"/>
            <a:ext cx="1463040" cy="822960"/>
          </a:xfrm>
          <a:prstGeom prst="rect">
            <a:avLst/>
          </a:prstGeom>
          <a:solidFill>
            <a:srgbClr val="0891B2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194560" y="150876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0" y="164592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931920" y="1508760"/>
            <a:ext cx="1463040" cy="822960"/>
          </a:xfrm>
          <a:prstGeom prst="rect">
            <a:avLst/>
          </a:prstGeom>
          <a:solidFill>
            <a:srgbClr val="3B82F6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931920" y="150876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94960" y="164592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669280" y="1508760"/>
            <a:ext cx="1463040" cy="822960"/>
          </a:xfrm>
          <a:prstGeom prst="rect">
            <a:avLst/>
          </a:prstGeom>
          <a:solidFill>
            <a:srgbClr val="7C3AED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669280" y="150876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132320" y="164592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406640" y="1508760"/>
            <a:ext cx="1463040" cy="822960"/>
          </a:xfrm>
          <a:prstGeom prst="rect">
            <a:avLst/>
          </a:prstGeom>
          <a:solidFill>
            <a:srgbClr val="10B981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406640" y="150876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2606040"/>
            <a:ext cx="402336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2606040"/>
            <a:ext cx="54864" cy="12801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2651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to Use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" y="297180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Clear, ordered stages</a:t>
            </a:r>
            <a:endParaRPr lang="en-US" sz="10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refines the previous output</a:t>
            </a:r>
            <a:endParaRPr lang="en-US" sz="10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persona per stage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2606040"/>
            <a:ext cx="402336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2606040"/>
            <a:ext cx="54864" cy="12801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2651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 Strategy: Fresh per Stage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46320" y="297180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gets a clean conversation with ONLY the previous agent's output. No 'context pollution' from earlier stages' internal reasoning. Token-efficient since each call is small.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0" y="0"/>
            <a:ext cx="73152" cy="8229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Exercise: Content Pipeline Code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exercises/04_sequential/01_content_pipeline.py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438912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371600"/>
            <a:ext cx="54864" cy="12801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41732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Agents, Each with a Focused Prompt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1691640"/>
            <a:ext cx="4023360" cy="8686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85800" y="1764792"/>
            <a:ext cx="37490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research_agent = Agent(</a:t>
            </a:r>
            <a:endParaRPr lang="en-US" sz="8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name="Research Agent",</a:t>
            </a:r>
            <a:endParaRPr lang="en-US" sz="8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system_prompt=RESEARCH_PROMPT, model=model)</a:t>
            </a:r>
            <a:endParaRPr lang="en-US" sz="8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draft_agent = Agent(</a:t>
            </a:r>
            <a:endParaRPr lang="en-US" sz="8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name="Draft Writer",</a:t>
            </a:r>
            <a:endParaRPr lang="en-US" sz="8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system_prompt=DRAFT_PROMPT, model=model)</a:t>
            </a:r>
            <a:endParaRPr lang="en-US" sz="8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editor_agent = Agent(</a:t>
            </a:r>
            <a:endParaRPr lang="en-US" sz="8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name="Editor Agent",</a:t>
            </a:r>
            <a:endParaRPr lang="en-US" sz="8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system_prompt=EDITOR_PROMPT, model=model)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937760" y="1371600"/>
            <a:ext cx="384048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937760" y="1371600"/>
            <a:ext cx="54864" cy="12801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5120640" y="14173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Context at Each Stage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20640" y="1691640"/>
            <a:ext cx="3474720" cy="8686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257800" y="1764792"/>
            <a:ext cx="320040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Stage 1: Research (own messages)</a:t>
            </a:r>
            <a:endParaRPr lang="en-US" sz="7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research_msgs = [{"role": "user",</a:t>
            </a:r>
            <a:endParaRPr lang="en-US" sz="7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"content": f"Research: {TOPIC}"}]</a:t>
            </a:r>
            <a:endParaRPr lang="en-US" sz="7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research_out = run(research_agent,</a:t>
            </a:r>
            <a:endParaRPr lang="en-US" sz="7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research_msgs, client)</a:t>
            </a:r>
            <a:endParaRPr lang="en-US" sz="750" dirty="0"/>
          </a:p>
          <a:p>
            <a:pPr algn="l" indent="0" marL="0">
              <a:spcAft>
                <a:spcPts val="200"/>
              </a:spcAft>
              <a:buNone/>
            </a:pPr>
            <a:endParaRPr lang="en-US" sz="7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Stage 2: Draft (FRESH messages!)</a:t>
            </a:r>
            <a:endParaRPr lang="en-US" sz="7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draft_msgs = [{"role": "user",</a:t>
            </a:r>
            <a:endParaRPr lang="en-US" sz="7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"content": f"Write article from: "</a:t>
            </a:r>
            <a:endParaRPr lang="en-US" sz="7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f"{research_out}"}]</a:t>
            </a:r>
            <a:endParaRPr lang="en-US" sz="7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draft_out = run(draft_agent,</a:t>
            </a:r>
            <a:endParaRPr lang="en-US" sz="7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draft_msgs, client)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365760" y="2834640"/>
            <a:ext cx="841248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834640"/>
            <a:ext cx="54864" cy="1188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88036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Flow: Only Output Passes Forward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200400"/>
            <a:ext cx="2468880" cy="6400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2004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Agent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34290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Gets: topic string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Produces: research notes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017520" y="32918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291840" y="3200400"/>
            <a:ext cx="2468880" cy="6400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4" name="Text 22"/>
          <p:cNvSpPr/>
          <p:nvPr/>
        </p:nvSpPr>
        <p:spPr>
          <a:xfrm>
            <a:off x="3291840" y="32004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Writer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291840" y="34290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Gets: research notes only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research agent reasoning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760720" y="32918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035040" y="3200400"/>
            <a:ext cx="2468880" cy="6400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8" name="Text 26"/>
          <p:cNvSpPr/>
          <p:nvPr/>
        </p:nvSpPr>
        <p:spPr>
          <a:xfrm>
            <a:off x="6035040" y="32004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 Agent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035040" y="34290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Gets: draft article only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research or draft reasoning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48640" y="3840480"/>
            <a:ext cx="8046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log_context_pass() makes the handoff visible in console output.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0" y="0"/>
            <a:ext cx="73152" cy="8229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Concurrent: Stock Analysis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agents work on the same input simultaneously, then an aggregator combines results.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1645920" cy="731520"/>
          </a:xfrm>
          <a:prstGeom prst="rect">
            <a:avLst/>
          </a:prstGeom>
          <a:solidFill>
            <a:srgbClr val="0891B2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6459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103120" y="13716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560320" y="1280160"/>
            <a:ext cx="1645920" cy="594360"/>
          </a:xfrm>
          <a:prstGeom prst="rect">
            <a:avLst/>
          </a:prstGeom>
          <a:solidFill>
            <a:srgbClr val="3B82F6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60320" y="128016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206240" y="13716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103120" y="20116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560320" y="1920240"/>
            <a:ext cx="1645920" cy="594360"/>
          </a:xfrm>
          <a:prstGeom prst="rect">
            <a:avLst/>
          </a:prstGeom>
          <a:solidFill>
            <a:srgbClr val="7C3AED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560320" y="192024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206240" y="20116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103120" y="26517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560320" y="2560320"/>
            <a:ext cx="1645920" cy="594360"/>
          </a:xfrm>
          <a:prstGeom prst="rect">
            <a:avLst/>
          </a:prstGeom>
          <a:solidFill>
            <a:srgbClr val="F59E0B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560320" y="256032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206240" y="26517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663440" y="1645920"/>
            <a:ext cx="1645920" cy="731520"/>
          </a:xfrm>
          <a:prstGeom prst="rect">
            <a:avLst/>
          </a:prstGeom>
          <a:solidFill>
            <a:srgbClr val="10B981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663440" y="16459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Aggregator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309360" y="173736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766560" y="1645920"/>
            <a:ext cx="1828800" cy="731520"/>
          </a:xfrm>
          <a:prstGeom prst="rect">
            <a:avLst/>
          </a:prstGeom>
          <a:solidFill>
            <a:srgbClr val="E11D48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766560" y="16459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429000"/>
            <a:ext cx="40233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3429000"/>
            <a:ext cx="54864" cy="1188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3474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to Use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0080" y="37947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independent analyses of same data</a:t>
            </a:r>
            <a:endParaRPr lang="en-US" sz="10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analysis benefits from a different perspective</a:t>
            </a:r>
            <a:endParaRPr lang="en-US" sz="10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Analyses can run without depending on each other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63440" y="3429000"/>
            <a:ext cx="40233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63440" y="3429000"/>
            <a:ext cx="54864" cy="1188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1" name="Text 29"/>
          <p:cNvSpPr/>
          <p:nvPr/>
        </p:nvSpPr>
        <p:spPr>
          <a:xfrm>
            <a:off x="4846320" y="3474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 Strategy: Isolated per Thread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846320" y="37947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gets the SAME initial input independently. No shared state between parallel agents. The aggregator receives ALL outputs combined. Uses ThreadPoolExecutor for real parallelism.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0" y="0"/>
            <a:ext cx="73152" cy="8229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Exercise: Concurrent Stock Analysis Code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exercises/05_concurrent/01_stock_analysis.py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43891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371600"/>
            <a:ext cx="54864" cy="18288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41732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Fan-Out: ThreadPoolExecutor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1691640"/>
            <a:ext cx="4023360" cy="14173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85800" y="1764792"/>
            <a:ext cx="3749040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run_analyst(name, prompt, query, model):</a:t>
            </a:r>
            <a:endParaRPr lang="en-US" sz="7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"""Each thread gets its own client!"""</a:t>
            </a:r>
            <a:endParaRPr lang="en-US" sz="7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agent = Agent(name=name,</a:t>
            </a:r>
            <a:endParaRPr lang="en-US" sz="7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system_prompt=prompt, model=model)</a:t>
            </a:r>
            <a:endParaRPr lang="en-US" sz="7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messages = [{"role": "user",</a:t>
            </a:r>
            <a:endParaRPr lang="en-US" sz="7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"content": query}]</a:t>
            </a:r>
            <a:endParaRPr lang="en-US" sz="7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with get_client() as client:</a:t>
            </a:r>
            <a:endParaRPr lang="en-US" sz="7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output = run(agent, messages, client)</a:t>
            </a:r>
            <a:endParaRPr lang="en-US" sz="7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name, output</a:t>
            </a:r>
            <a:endParaRPr lang="en-US" sz="750" dirty="0"/>
          </a:p>
          <a:p>
            <a:pPr algn="l" indent="0" marL="0">
              <a:spcAft>
                <a:spcPts val="200"/>
              </a:spcAft>
              <a:buNone/>
            </a:pPr>
            <a:endParaRPr lang="en-US" sz="7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ThreadPoolExecutor(max_workers=3) as ex:</a:t>
            </a:r>
            <a:endParaRPr lang="en-US" sz="7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futures = {</a:t>
            </a:r>
            <a:endParaRPr lang="en-US" sz="7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ex.submit(run_analyst, n, p, q, m): n</a:t>
            </a:r>
            <a:endParaRPr lang="en-US" sz="7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n, p in analysts</a:t>
            </a:r>
            <a:endParaRPr lang="en-US" sz="7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7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future in as_completed(futures):</a:t>
            </a:r>
            <a:endParaRPr lang="en-US" sz="7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name, output = future.result()</a:t>
            </a:r>
            <a:endParaRPr lang="en-US" sz="7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results[name] = output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937760" y="1371600"/>
            <a:ext cx="38404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937760" y="1371600"/>
            <a:ext cx="54864" cy="18288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5120640" y="14173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Fan-In: Aggregate Results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20640" y="1691640"/>
            <a:ext cx="3474720" cy="14173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257800" y="1764792"/>
            <a:ext cx="3200400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Combine all outputs into one context</a:t>
            </a:r>
            <a:endParaRPr lang="en-US" sz="7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combined = "\n\n".join(</a:t>
            </a:r>
            <a:endParaRPr lang="en-US" sz="7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f"=== {name} ===\n{output}"</a:t>
            </a:r>
            <a:endParaRPr lang="en-US" sz="7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name, output in results.items()</a:t>
            </a:r>
            <a:endParaRPr lang="en-US" sz="7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750" dirty="0"/>
          </a:p>
          <a:p>
            <a:pPr algn="l" indent="0" marL="0">
              <a:spcAft>
                <a:spcPts val="200"/>
              </a:spcAft>
              <a:buNone/>
            </a:pPr>
            <a:endParaRPr lang="en-US" sz="7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aggregator = Agent(</a:t>
            </a:r>
            <a:endParaRPr lang="en-US" sz="7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name="Aggregator",</a:t>
            </a:r>
            <a:endParaRPr lang="en-US" sz="7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system_prompt=AGGREGATOR_PROMPT,</a:t>
            </a:r>
            <a:endParaRPr lang="en-US" sz="7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model=model)</a:t>
            </a:r>
            <a:endParaRPr lang="en-US" sz="750" dirty="0"/>
          </a:p>
          <a:p>
            <a:pPr algn="l" indent="0" marL="0">
              <a:spcAft>
                <a:spcPts val="200"/>
              </a:spcAft>
              <a:buNone/>
            </a:pPr>
            <a:endParaRPr lang="en-US" sz="7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agg_msgs = [{"role": "user",</a:t>
            </a:r>
            <a:endParaRPr lang="en-US" sz="7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"content": f"Synthesize: {combined}"}]</a:t>
            </a:r>
            <a:endParaRPr lang="en-US" sz="750" dirty="0"/>
          </a:p>
          <a:p>
            <a:pPr algn="l" indent="0" marL="0">
              <a:spcAft>
                <a:spcPts val="200"/>
              </a:spcAft>
              <a:buNone/>
            </a:pPr>
            <a:endParaRPr lang="en-US" sz="7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get_client() as client:</a:t>
            </a:r>
            <a:endParaRPr lang="en-US" sz="7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summary = run(</a:t>
            </a:r>
            <a:endParaRPr lang="en-US" sz="7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aggregator, agg_msgs, client)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365760" y="3383280"/>
            <a:ext cx="841248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383280"/>
            <a:ext cx="54864" cy="7315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42900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Implementation Details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37033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thread creates its own get_client() </a:t>
            </a:r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OpenAI clients are not thread-safe. 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as_completed() </a:t>
            </a:r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results as they arrive, not in submission order. No shared state between analysts.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0" y="0"/>
            <a:ext cx="73152" cy="8229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Group Chat: Brainstorm &amp; Maker-Checker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share a conversation and take turns contributing, building on each other's messages.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63040"/>
            <a:ext cx="54864" cy="18288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08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Brainstorm (Multi-Agent)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1874520"/>
            <a:ext cx="1005840" cy="502920"/>
          </a:xfrm>
          <a:prstGeom prst="rect">
            <a:avLst/>
          </a:prstGeom>
          <a:solidFill>
            <a:srgbClr val="7C3AED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31520" y="187452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920240" y="1874520"/>
            <a:ext cx="1005840" cy="502920"/>
          </a:xfrm>
          <a:prstGeom prst="rect">
            <a:avLst/>
          </a:prstGeom>
          <a:solidFill>
            <a:srgbClr val="7C3AED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920240" y="187452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108960" y="1874520"/>
            <a:ext cx="1005840" cy="502920"/>
          </a:xfrm>
          <a:prstGeom prst="rect">
            <a:avLst/>
          </a:prstGeom>
          <a:solidFill>
            <a:srgbClr val="7C3AED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108960" y="187452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31520" y="237744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↕           ↕           ↕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2560320"/>
            <a:ext cx="3474720" cy="4572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25603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Conversation Thread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1463040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1463040"/>
            <a:ext cx="54864" cy="1828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1508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Maker-Checker (Two-Agent)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029200" y="1920240"/>
            <a:ext cx="1280160" cy="502920"/>
          </a:xfrm>
          <a:prstGeom prst="rect">
            <a:avLst/>
          </a:prstGeom>
          <a:solidFill>
            <a:srgbClr val="3B82F6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029200" y="19202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0936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766560" y="1920240"/>
            <a:ext cx="1280160" cy="502920"/>
          </a:xfrm>
          <a:prstGeom prst="rect">
            <a:avLst/>
          </a:prstGeom>
          <a:solidFill>
            <a:srgbClr val="10B981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766560" y="19202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09360" y="24231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669280" y="2651760"/>
            <a:ext cx="1737360" cy="3657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8" name="Text 26"/>
          <p:cNvSpPr/>
          <p:nvPr/>
        </p:nvSpPr>
        <p:spPr>
          <a:xfrm>
            <a:off x="5669280" y="26517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APPROVED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352044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" y="3520440"/>
            <a:ext cx="54864" cy="8229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35661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 Strategy: Shared Messages List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40080" y="38404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agents share the SAME conversation thread. Later agents see the full history. Token usage grows with every turn. Maker-checker variant loops until 'APPROVED' keyword appears.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0" y="0"/>
            <a:ext cx="73152" cy="8229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Exercise: Brainstorm — Shared Conversation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exercises/06_group_chat/01_brainstorm.py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43891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371600"/>
            <a:ext cx="54864" cy="14630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41732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Agents × 3 Rounds on Shared Thread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1691640"/>
            <a:ext cx="4023360" cy="10515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85800" y="1764792"/>
            <a:ext cx="374904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AGENTS = {</a:t>
            </a:r>
            <a:endParaRPr lang="en-US" sz="8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"Product Manager": "Focus on market fit...",</a:t>
            </a:r>
            <a:endParaRPr lang="en-US" sz="8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"Designer": "Focus on UX, accessibility...",</a:t>
            </a:r>
            <a:endParaRPr lang="en-US" sz="8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"Engineer": "Focus on feasibility...",</a:t>
            </a:r>
            <a:endParaRPr lang="en-US" sz="8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SPEAKING_ORDER = [</a:t>
            </a:r>
            <a:endParaRPr lang="en-US" sz="8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"Product Manager", "Designer", "Engineer"]</a:t>
            </a:r>
            <a:endParaRPr lang="en-US" sz="8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MAX_ROUNDS = 3</a:t>
            </a:r>
            <a:endParaRPr lang="en-US" sz="800" dirty="0"/>
          </a:p>
          <a:p>
            <a:pPr algn="l" indent="0" marL="0">
              <a:spcAft>
                <a:spcPts val="200"/>
              </a:spcAft>
              <a:buNone/>
            </a:pPr>
            <a:endParaRPr lang="en-US" sz="8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ONE shared list for all agents</a:t>
            </a:r>
            <a:endParaRPr lang="en-US" sz="8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shared_messages: list[dict] = [</a:t>
            </a:r>
            <a:endParaRPr lang="en-US" sz="8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{"role": "user", "content": topic}]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937760" y="1371600"/>
            <a:ext cx="38404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937760" y="1371600"/>
            <a:ext cx="54864" cy="14630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5120640" y="14173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Round-Robin Speaking Loop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20640" y="1691640"/>
            <a:ext cx="3474720" cy="10515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257800" y="1764792"/>
            <a:ext cx="320040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round in range(1, MAX_ROUNDS + 1):</a:t>
            </a:r>
            <a:endParaRPr lang="en-US" sz="7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agent_name in SPEAKING_ORDER:</a:t>
            </a:r>
            <a:endParaRPr lang="en-US" sz="7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Inject this agent's persona</a:t>
            </a:r>
            <a:endParaRPr lang="en-US" sz="7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agent_msgs = [</a:t>
            </a:r>
            <a:endParaRPr lang="en-US" sz="7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{"role": "system",</a:t>
            </a:r>
            <a:endParaRPr lang="en-US" sz="7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"content": AGENTS[agent_name]},</a:t>
            </a:r>
            <a:endParaRPr lang="en-US" sz="7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*shared_messages,  # full history</a:t>
            </a:r>
            <a:endParaRPr lang="en-US" sz="7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</a:t>
            </a:r>
            <a:endParaRPr lang="en-US" sz="7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response = client.chat.completions</a:t>
            </a:r>
            <a:endParaRPr lang="en-US" sz="7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.create(model=model,</a:t>
            </a:r>
            <a:endParaRPr lang="en-US" sz="7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messages=agent_msgs,</a:t>
            </a:r>
            <a:endParaRPr lang="en-US" sz="7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temperature=0.8)</a:t>
            </a:r>
            <a:endParaRPr lang="en-US" sz="7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reply = response.choices[0].message</a:t>
            </a:r>
            <a:endParaRPr lang="en-US" sz="7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Append to SHARED thread</a:t>
            </a:r>
            <a:endParaRPr lang="en-US" sz="7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shared_messages.append(</a:t>
            </a:r>
            <a:endParaRPr lang="en-US" sz="7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{"role": "assistant",</a:t>
            </a:r>
            <a:endParaRPr lang="en-US" sz="7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"content": f"[{agent_name}]: ..."})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365760" y="3017520"/>
            <a:ext cx="841248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8640" y="30175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is swapped per turn — each agent sees all messages but speaks with its own persona. Name tags [PM]: prefix identify speakers.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0" y="0"/>
            <a:ext cx="73152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Exercise: Maker-Checker — Iterative Refinement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exercises/06_group_chat/02_maker_checker.py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457200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371600"/>
            <a:ext cx="54864" cy="23774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417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→ Review → Revise Loop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1691640"/>
            <a:ext cx="4206240" cy="19659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85800" y="1764792"/>
            <a:ext cx="3931920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iteration in range(1, MAX_ITERATIONS + 1):</a:t>
            </a:r>
            <a:endParaRPr lang="en-US" sz="7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Review: checker sees shared thread</a:t>
            </a:r>
            <a:endParaRPr lang="en-US" sz="7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review_msgs = [</a:t>
            </a:r>
            <a:endParaRPr lang="en-US" sz="7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{"role": "system", "content": REVIEWER},</a:t>
            </a:r>
            <a:endParaRPr lang="en-US" sz="7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*shared_messages,</a:t>
            </a:r>
            <a:endParaRPr lang="en-US" sz="7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{"role": "user",</a:t>
            </a:r>
            <a:endParaRPr lang="en-US" sz="7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"content": "Review. Reply APPROVED or give feedback."}</a:t>
            </a:r>
            <a:endParaRPr lang="en-US" sz="7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</a:t>
            </a:r>
            <a:endParaRPr lang="en-US" sz="7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response = client.chat.completions.create(</a:t>
            </a:r>
            <a:endParaRPr lang="en-US" sz="7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model=model, messages=review_msgs,</a:t>
            </a:r>
            <a:endParaRPr lang="en-US" sz="7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temperature=0.2)  # Low temp for precision</a:t>
            </a:r>
            <a:endParaRPr lang="en-US" sz="7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review = response.choices[0].message.content</a:t>
            </a:r>
            <a:endParaRPr lang="en-US" sz="750" dirty="0"/>
          </a:p>
          <a:p>
            <a:pPr algn="l" indent="0" marL="0">
              <a:spcAft>
                <a:spcPts val="200"/>
              </a:spcAft>
              <a:buNone/>
            </a:pPr>
            <a:endParaRPr lang="en-US" sz="7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Check for approval keyword</a:t>
            </a:r>
            <a:endParaRPr lang="en-US" sz="7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review.strip().upper().startswith("APPROVED"):</a:t>
            </a:r>
            <a:endParaRPr lang="en-US" sz="7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break  # Done!</a:t>
            </a:r>
            <a:endParaRPr lang="en-US" sz="750" dirty="0"/>
          </a:p>
          <a:p>
            <a:pPr algn="l" indent="0" marL="0">
              <a:spcAft>
                <a:spcPts val="200"/>
              </a:spcAft>
              <a:buNone/>
            </a:pPr>
            <a:endParaRPr lang="en-US" sz="7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Revise: generator sees feedback</a:t>
            </a:r>
            <a:endParaRPr lang="en-US" sz="7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revise_msgs = [</a:t>
            </a:r>
            <a:endParaRPr lang="en-US" sz="7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{"role": "system", "content": GENERATOR},</a:t>
            </a:r>
            <a:endParaRPr lang="en-US" sz="7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*shared_messages,</a:t>
            </a:r>
            <a:endParaRPr lang="en-US" sz="7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{"role": "user",</a:t>
            </a:r>
            <a:endParaRPr lang="en-US" sz="7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"content": "Address the reviewer's feedback."}</a:t>
            </a:r>
            <a:endParaRPr lang="en-US" sz="7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</a:t>
            </a:r>
            <a:endParaRPr lang="en-US" sz="7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response = client.chat.completions.create(</a:t>
            </a:r>
            <a:endParaRPr lang="en-US" sz="7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model=model, messages=revise_msgs,</a:t>
            </a:r>
            <a:endParaRPr lang="en-US" sz="7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temperature=0.3)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5120640" y="1371600"/>
            <a:ext cx="36576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120640" y="1371600"/>
            <a:ext cx="54864" cy="10058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5303520" y="141732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Termination Strategy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03520" y="16916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keyword in reviewer output</a:t>
            </a:r>
            <a:endParaRPr lang="en-US" sz="10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MAX_ITERATIONS = 4 safety limit</a:t>
            </a:r>
            <a:endParaRPr lang="en-US" sz="10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temperature (0.2) for precise review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120640" y="2560320"/>
            <a:ext cx="36576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120640" y="2560320"/>
            <a:ext cx="54864" cy="1188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5303520" y="26060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 Pattern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303520" y="288036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called evaluator-optimizer. The checker provides actionable feedback, the maker addresses it. Both see the full shared_messages history. Quality improves with each iteration.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0" y="0"/>
            <a:ext cx="73152" cy="8229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Chapter 4 Recap: Multi-Agent Orchestration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097280"/>
            <a:ext cx="411480" cy="41148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97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10515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Sequential: fresh context per stage — only output passes forward, no context pollution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1828800"/>
            <a:ext cx="411480" cy="4114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828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17830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Concurrent: ThreadPoolExecutor + own client per thread — independent, no shared state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2560320"/>
            <a:ext cx="411480" cy="4114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560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71600" y="2514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Chat: shared messages list — all agents see full history (token cost grows)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3291840"/>
            <a:ext cx="411480" cy="4114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291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71600" y="32461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Maker-Checker: APPROVED keyword terminates the loop — quality gate pattern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1520" y="4023360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023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71600" y="39776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strategy is as important as choosing the pattern itself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5720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Chapter 5 — Advanced Patterns → Handoff, Magentic, Production Considerations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4 – Multi-Agent Orchestration</dc:title>
  <dc:subject>PptxGenJS Presentation</dc:subject>
  <dc:creator>AI Workshop</dc:creator>
  <cp:lastModifiedBy>AI Workshop</cp:lastModifiedBy>
  <cp:revision>1</cp:revision>
  <dcterms:created xsi:type="dcterms:W3CDTF">2026-03-12T13:57:28Z</dcterms:created>
  <dcterms:modified xsi:type="dcterms:W3CDTF">2026-03-12T13:57:28Z</dcterms:modified>
</cp:coreProperties>
</file>